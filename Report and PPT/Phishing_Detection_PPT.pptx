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embeddedFontLst>
    <p:embeddedFont>
      <p:font typeface="Cascadia Mono SemiBold" panose="020B0609020000020004" pitchFamily="49" charset="0"/>
      <p:bold r:id="rId16"/>
      <p:boldItalic r:id="rId17"/>
    </p:embeddedFont>
    <p:embeddedFont>
      <p:font typeface="Urbanist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“We compared multiple machine learning models and selected </a:t>
            </a:r>
            <a:r>
              <a:rPr lang="en-US" b="1" dirty="0"/>
              <a:t>Random Forest</a:t>
            </a:r>
            <a:r>
              <a:rPr lang="en-US" dirty="0"/>
              <a:t>.</a:t>
            </a:r>
          </a:p>
          <a:p>
            <a:r>
              <a:rPr lang="en-US" dirty="0"/>
              <a:t>Reasons:</a:t>
            </a:r>
          </a:p>
          <a:p>
            <a:r>
              <a:rPr lang="en-US" dirty="0"/>
              <a:t>Handles non-linear interactions extremely well.</a:t>
            </a:r>
          </a:p>
          <a:p>
            <a:r>
              <a:rPr lang="en-US" dirty="0"/>
              <a:t>More robust to missing or incomplete features.</a:t>
            </a:r>
          </a:p>
          <a:p>
            <a:r>
              <a:rPr lang="en-US" dirty="0"/>
              <a:t>Provides high training accuracy while avoiding overfitting.</a:t>
            </a:r>
          </a:p>
          <a:p>
            <a:r>
              <a:rPr lang="en-US" dirty="0"/>
              <a:t>Overall, it gave the most consistent and stable performance across our tests.”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0" name="Google Shape;15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One of the biggest engineering challenges in this project is what we call the </a:t>
            </a:r>
            <a:r>
              <a:rPr lang="en-US" i="1" dirty="0"/>
              <a:t>Inference Gap</a:t>
            </a:r>
            <a:r>
              <a:rPr lang="en-US" dirty="0"/>
              <a:t>.</a:t>
            </a:r>
          </a:p>
          <a:p>
            <a:r>
              <a:rPr lang="en-US" dirty="0"/>
              <a:t>The model was trained on </a:t>
            </a:r>
            <a:r>
              <a:rPr lang="en-US" b="1" dirty="0"/>
              <a:t>30 features</a:t>
            </a:r>
            <a:r>
              <a:rPr lang="en-US" dirty="0"/>
              <a:t>, many of which require:</a:t>
            </a:r>
            <a:br>
              <a:rPr lang="en-US" dirty="0"/>
            </a:br>
            <a:r>
              <a:rPr lang="en-US" dirty="0"/>
              <a:t>• WHOIS lookups</a:t>
            </a:r>
            <a:br>
              <a:rPr lang="en-US" dirty="0"/>
            </a:br>
            <a:r>
              <a:rPr lang="en-US" dirty="0"/>
              <a:t>• SSL certificate validation</a:t>
            </a:r>
            <a:br>
              <a:rPr lang="en-US" dirty="0"/>
            </a:br>
            <a:r>
              <a:rPr lang="en-US" dirty="0"/>
              <a:t>• DNS record checks</a:t>
            </a:r>
          </a:p>
          <a:p>
            <a:r>
              <a:rPr lang="en-US" dirty="0"/>
              <a:t>But the user only gives us a </a:t>
            </a:r>
            <a:r>
              <a:rPr lang="en-US" b="1" dirty="0"/>
              <a:t>raw URL string</a:t>
            </a:r>
            <a:r>
              <a:rPr lang="en-US" dirty="0"/>
              <a:t> like ‘http://malicious-site.com’.</a:t>
            </a:r>
          </a:p>
          <a:p>
            <a:r>
              <a:rPr lang="en-US" dirty="0"/>
              <a:t>Real-time WHOIS or SSL checks take around 2–3 seconds, which makes the system slow and impractical.</a:t>
            </a:r>
          </a:p>
          <a:p>
            <a:r>
              <a:rPr lang="en-US" dirty="0"/>
              <a:t>We needed a way to predict using minimal information while keeping the model compatible with its training structure.”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To solve this, we built a custom </a:t>
            </a:r>
            <a:r>
              <a:rPr lang="en-US" b="1" dirty="0"/>
              <a:t>real-time feature extractor</a:t>
            </a:r>
            <a:r>
              <a:rPr lang="en-US" dirty="0"/>
              <a:t> using Python, </a:t>
            </a:r>
            <a:r>
              <a:rPr lang="en-US" dirty="0" err="1"/>
              <a:t>RegEx</a:t>
            </a:r>
            <a:r>
              <a:rPr lang="en-US" dirty="0"/>
              <a:t>, and heuristics.</a:t>
            </a:r>
          </a:p>
          <a:p>
            <a:r>
              <a:rPr lang="en-US" dirty="0"/>
              <a:t>Features extracted live: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IP Address detection</a:t>
            </a:r>
            <a:r>
              <a:rPr lang="en-US" dirty="0"/>
              <a:t> using </a:t>
            </a:r>
            <a:r>
              <a:rPr lang="en-US" dirty="0" err="1"/>
              <a:t>RegEx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URL length</a:t>
            </a:r>
            <a:r>
              <a:rPr lang="en-US" dirty="0"/>
              <a:t> (long URLs are suspicious)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Presence of '@' symbol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Hyphens</a:t>
            </a:r>
            <a:r>
              <a:rPr lang="en-US" dirty="0"/>
              <a:t>, which often indicate typo-squatting</a:t>
            </a:r>
            <a:br>
              <a:rPr lang="en-US" dirty="0"/>
            </a:br>
            <a:r>
              <a:rPr lang="en-US" dirty="0"/>
              <a:t>• Basic prefix-suffix patterns</a:t>
            </a:r>
          </a:p>
          <a:p>
            <a:r>
              <a:rPr lang="en-US" dirty="0"/>
              <a:t>These lexical features are extremely powerful for on-the-spot detection.”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71" name="Google Shape;17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dirty="0"/>
              <a:t>Since we cannot fetch the other 25 features instantly, we use a technique called </a:t>
            </a:r>
            <a:r>
              <a:rPr lang="en-US" b="1" dirty="0"/>
              <a:t>Zero-Imputation</a:t>
            </a:r>
            <a:r>
              <a:rPr lang="en-US" dirty="0"/>
              <a:t>.</a:t>
            </a:r>
          </a:p>
          <a:p>
            <a:r>
              <a:rPr lang="en-US" dirty="0"/>
              <a:t>Process:</a:t>
            </a:r>
            <a:br>
              <a:rPr lang="en-US" dirty="0"/>
            </a:br>
            <a:r>
              <a:rPr lang="en-US" dirty="0"/>
              <a:t>• Create a feature vector of size 30</a:t>
            </a:r>
            <a:br>
              <a:rPr lang="en-US" dirty="0"/>
            </a:br>
            <a:r>
              <a:rPr lang="en-US" dirty="0"/>
              <a:t>• Fill only the 5 live lexical features</a:t>
            </a:r>
            <a:br>
              <a:rPr lang="en-US" dirty="0"/>
            </a:br>
            <a:r>
              <a:rPr lang="en-US" dirty="0"/>
              <a:t>• Set the remaining 25 features to </a:t>
            </a:r>
            <a:r>
              <a:rPr lang="en-US" b="1" dirty="0"/>
              <a:t>zero</a:t>
            </a:r>
            <a:endParaRPr lang="en-US" dirty="0"/>
          </a:p>
          <a:p>
            <a:r>
              <a:rPr lang="en-US" dirty="0"/>
              <a:t>Why this works:</a:t>
            </a:r>
            <a:br>
              <a:rPr lang="en-US" dirty="0"/>
            </a:br>
            <a:r>
              <a:rPr lang="en-US" dirty="0"/>
              <a:t>• In the dataset, ‘0’ often means </a:t>
            </a:r>
            <a:r>
              <a:rPr lang="en-US" i="1" dirty="0"/>
              <a:t>Suspicious or Missing</a:t>
            </a:r>
            <a:r>
              <a:rPr lang="en-US" dirty="0"/>
              <a:t>, which matches real-world inference.</a:t>
            </a:r>
            <a:br>
              <a:rPr lang="en-US" dirty="0"/>
            </a:br>
            <a:r>
              <a:rPr lang="en-US" dirty="0"/>
              <a:t>• Random Forest is strong enough to ignore the missing fields and rely on the provided lexical features.</a:t>
            </a:r>
          </a:p>
          <a:p>
            <a:r>
              <a:rPr lang="en-US" dirty="0"/>
              <a:t>This approach gives us </a:t>
            </a:r>
            <a:r>
              <a:rPr lang="en-US" b="1" dirty="0"/>
              <a:t>sub-50ms inference time</a:t>
            </a:r>
            <a:r>
              <a:rPr lang="en-US" dirty="0"/>
              <a:t>, making the system extremely fast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8" name="Google Shape;18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88029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05276" y="2928044"/>
            <a:ext cx="11581447" cy="914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Phishing website URL Detection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81025" y="3872805"/>
            <a:ext cx="11029950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Ensemble Machine Learning &amp; Real-Time Heuristic Analysis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4588966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555555"/>
                </a:solidFill>
                <a:latin typeface="Urbanist"/>
                <a:ea typeface="Urbanist"/>
                <a:cs typeface="Urbanist"/>
                <a:sym typeface="Urbanist"/>
              </a:rPr>
              <a:t>Group 10 - Section B</a:t>
            </a: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BB6B6F8-3EAF-3EDC-B754-58D2DAC1C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176601"/>
              </p:ext>
            </p:extLst>
          </p:nvPr>
        </p:nvGraphicFramePr>
        <p:xfrm>
          <a:off x="7366451" y="5239774"/>
          <a:ext cx="4671060" cy="1241707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{2D5ABB26-0587-4C30-8999-92F81FD0307C}</a:tableStyleId>
              </a:tblPr>
              <a:tblGrid>
                <a:gridCol w="2898980">
                  <a:extLst>
                    <a:ext uri="{9D8B030D-6E8A-4147-A177-3AD203B41FA5}">
                      <a16:colId xmlns:a16="http://schemas.microsoft.com/office/drawing/2014/main" val="2711662914"/>
                    </a:ext>
                  </a:extLst>
                </a:gridCol>
                <a:gridCol w="1772080">
                  <a:extLst>
                    <a:ext uri="{9D8B030D-6E8A-4147-A177-3AD203B41FA5}">
                      <a16:colId xmlns:a16="http://schemas.microsoft.com/office/drawing/2014/main" val="544101945"/>
                    </a:ext>
                  </a:extLst>
                </a:gridCol>
              </a:tblGrid>
              <a:tr h="259875">
                <a:tc>
                  <a:txBody>
                    <a:bodyPr/>
                    <a:lstStyle/>
                    <a:p>
                      <a:pPr marL="67945">
                        <a:spcBef>
                          <a:spcPts val="1005"/>
                        </a:spcBef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Cascadia Mono SemiBold" panose="020B0609020000020004" pitchFamily="49" charset="0"/>
                          <a:ea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G Harshith Sai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marR="1270" algn="ctr">
                        <a:spcBef>
                          <a:spcPts val="1005"/>
                        </a:spcBef>
                        <a:buNone/>
                      </a:pPr>
                      <a:r>
                        <a:rPr lang="en-US" sz="1400" b="1" spc="-10">
                          <a:solidFill>
                            <a:schemeClr val="bg1"/>
                          </a:solidFill>
                          <a:effectLst/>
                          <a:latin typeface="Cascadia Mono SemiBold" panose="020B0609020000020004" pitchFamily="49" charset="0"/>
                          <a:ea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AP23110010170</a:t>
                      </a:r>
                      <a:endParaRPr lang="en-IN" sz="1400" b="1">
                        <a:solidFill>
                          <a:schemeClr val="bg1"/>
                        </a:solidFill>
                        <a:effectLst/>
                        <a:latin typeface="Cascadia Mono SemiBold" panose="020B0609020000020004" pitchFamily="49" charset="0"/>
                        <a:ea typeface="Cascadia Mono SemiBold" panose="020B0609020000020004" pitchFamily="49" charset="0"/>
                        <a:cs typeface="Cascadia Mono SemiBold" panose="020B0609020000020004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68335967"/>
                  </a:ext>
                </a:extLst>
              </a:tr>
              <a:tr h="275303">
                <a:tc>
                  <a:txBody>
                    <a:bodyPr/>
                    <a:lstStyle/>
                    <a:p>
                      <a:pPr marL="68580">
                        <a:spcBef>
                          <a:spcPts val="1125"/>
                        </a:spcBef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Cascadia Mono SemiBold" panose="020B0609020000020004" pitchFamily="49" charset="0"/>
                          <a:ea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Nissi Praharsha C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algn="ctr">
                        <a:spcBef>
                          <a:spcPts val="1125"/>
                        </a:spcBef>
                        <a:buNone/>
                      </a:pPr>
                      <a:r>
                        <a:rPr lang="en-IN" sz="1400" b="1" spc="-10">
                          <a:solidFill>
                            <a:schemeClr val="bg1"/>
                          </a:solidFill>
                          <a:effectLst/>
                          <a:latin typeface="Cascadia Mono SemiBold" panose="020B0609020000020004" pitchFamily="49" charset="0"/>
                          <a:ea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AP23110010221</a:t>
                      </a:r>
                      <a:endParaRPr lang="en-IN" sz="1400" b="1">
                        <a:solidFill>
                          <a:schemeClr val="bg1"/>
                        </a:solidFill>
                        <a:effectLst/>
                        <a:latin typeface="Cascadia Mono SemiBold" panose="020B0609020000020004" pitchFamily="49" charset="0"/>
                        <a:ea typeface="Cascadia Mono SemiBold" panose="020B0609020000020004" pitchFamily="49" charset="0"/>
                        <a:cs typeface="Cascadia Mono SemiBold" panose="020B0609020000020004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825983841"/>
                  </a:ext>
                </a:extLst>
              </a:tr>
              <a:tr h="216309">
                <a:tc>
                  <a:txBody>
                    <a:bodyPr/>
                    <a:lstStyle/>
                    <a:p>
                      <a:pPr marL="67945">
                        <a:spcBef>
                          <a:spcPts val="1005"/>
                        </a:spcBef>
                        <a:buNone/>
                      </a:pPr>
                      <a:r>
                        <a:rPr lang="en-IN" sz="1400" b="1" dirty="0">
                          <a:solidFill>
                            <a:schemeClr val="bg1"/>
                          </a:solidFill>
                          <a:effectLst/>
                          <a:latin typeface="Cascadia Mono SemiBold" panose="020B0609020000020004" pitchFamily="49" charset="0"/>
                          <a:ea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M. Varshita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marR="1270" algn="ctr">
                        <a:spcBef>
                          <a:spcPts val="1005"/>
                        </a:spcBef>
                        <a:buNone/>
                      </a:pPr>
                      <a:r>
                        <a:rPr lang="en-IN" sz="1400" b="1" spc="-10" dirty="0">
                          <a:solidFill>
                            <a:schemeClr val="bg1"/>
                          </a:solidFill>
                          <a:effectLst/>
                          <a:latin typeface="Cascadia Mono SemiBold" panose="020B0609020000020004" pitchFamily="49" charset="0"/>
                          <a:ea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AP23110010206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Cascadia Mono SemiBold" panose="020B0609020000020004" pitchFamily="49" charset="0"/>
                        <a:ea typeface="Cascadia Mono SemiBold" panose="020B0609020000020004" pitchFamily="49" charset="0"/>
                        <a:cs typeface="Cascadia Mono SemiBold" panose="020B0609020000020004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17529197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68580">
                        <a:spcBef>
                          <a:spcPts val="1125"/>
                        </a:spcBef>
                        <a:buNone/>
                      </a:pPr>
                      <a:r>
                        <a:rPr lang="en-IN" sz="1400" b="1">
                          <a:solidFill>
                            <a:schemeClr val="bg1"/>
                          </a:solidFill>
                          <a:effectLst/>
                          <a:latin typeface="Cascadia Mono SemiBold" panose="020B0609020000020004" pitchFamily="49" charset="0"/>
                          <a:ea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D. Siva Kaushik</a:t>
                      </a: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5080" marR="1905" algn="ctr">
                        <a:spcBef>
                          <a:spcPts val="1125"/>
                        </a:spcBef>
                        <a:buNone/>
                      </a:pPr>
                      <a:r>
                        <a:rPr lang="en-IN" sz="1400" b="1" spc="-10" dirty="0">
                          <a:solidFill>
                            <a:schemeClr val="bg1"/>
                          </a:solidFill>
                          <a:effectLst/>
                          <a:latin typeface="Cascadia Mono SemiBold" panose="020B0609020000020004" pitchFamily="49" charset="0"/>
                          <a:ea typeface="Cascadia Mono SemiBold" panose="020B0609020000020004" pitchFamily="49" charset="0"/>
                          <a:cs typeface="Cascadia Mono SemiBold" panose="020B0609020000020004" pitchFamily="49" charset="0"/>
                        </a:rPr>
                        <a:t>AP23110010841</a:t>
                      </a:r>
                      <a:endParaRPr lang="en-IN" sz="1400" b="1" dirty="0">
                        <a:solidFill>
                          <a:schemeClr val="bg1"/>
                        </a:solidFill>
                        <a:effectLst/>
                        <a:latin typeface="Cascadia Mono SemiBold" panose="020B0609020000020004" pitchFamily="49" charset="0"/>
                        <a:ea typeface="Cascadia Mono SemiBold" panose="020B0609020000020004" pitchFamily="49" charset="0"/>
                        <a:cs typeface="Cascadia Mono SemiBold" panose="020B0609020000020004" pitchFamily="49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225380839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646"/>
    </mc:Choice>
    <mc:Fallback xmlns="">
      <p:transition spd="slow" advTm="33646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71525" y="771525"/>
            <a:ext cx="4790598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The Latency Problem</a:t>
            </a:r>
            <a:endParaRPr/>
          </a:p>
        </p:txBody>
      </p:sp>
      <p:sp>
        <p:nvSpPr>
          <p:cNvPr id="96" name="Google Shape;96;p14"/>
          <p:cNvSpPr/>
          <p:nvPr/>
        </p:nvSpPr>
        <p:spPr>
          <a:xfrm>
            <a:off x="771525" y="1417290"/>
            <a:ext cx="456247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771525" y="2026890"/>
            <a:ext cx="4562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Traditional security relies on </a:t>
            </a: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blacklists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 This is reactive, not proactive.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114425" y="3241089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1152525" y="3240137"/>
            <a:ext cx="4181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Zero-Day Attacks: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Phishing sites live for only hours. Blacklists are too slow.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1114425" y="3911411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1160890" y="3996076"/>
            <a:ext cx="4181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Trust Gap:</a:t>
            </a:r>
            <a:r>
              <a:rPr lang="en-US" sz="165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Users rely on visual cues which are easily spoofed (Homograph attacks).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1114425" y="4581733"/>
            <a:ext cx="381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160890" y="5152801"/>
            <a:ext cx="4668172" cy="1218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Solution:</a:t>
            </a:r>
            <a:r>
              <a:rPr lang="en-US" sz="165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We need a system that predicts malicious intent based on the </a:t>
            </a:r>
            <a:r>
              <a:rPr lang="en-US" sz="1650" b="0" i="1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structure</a:t>
            </a:r>
            <a:r>
              <a:rPr lang="en-US" sz="165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of the URL, not just a database lookup.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39B647-4858-AB35-26DE-31E266E5D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0582" y="1459631"/>
            <a:ext cx="6109518" cy="42296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4779"/>
    </mc:Choice>
    <mc:Fallback xmlns="">
      <p:transition spd="slow" advTm="7477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2462"/>
            <a:ext cx="3486150" cy="3258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22462"/>
            <a:ext cx="3486150" cy="3258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22462"/>
            <a:ext cx="3486150" cy="3258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6463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646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6463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System Architecture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581025" y="122679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803910" y="3265437"/>
            <a:ext cx="304038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Frontend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876300" y="3726358"/>
            <a:ext cx="2895600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HTML/JS Interface using Fetch API for asynchronous non-blocking requests. 'Apple Design' aesthetic.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4575810" y="3265437"/>
            <a:ext cx="304038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Backend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48200" y="3726358"/>
            <a:ext cx="2895600" cy="13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Python http.server (Threaded). Handles routing, feature extraction, and ML inference.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347710" y="3265437"/>
            <a:ext cx="304038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ML Engine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8420100" y="3726358"/>
            <a:ext cx="2895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Scikit-Learn Random Forest Classifier. Trained on UCI Phishing Dataset.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2291"/>
    </mc:Choice>
    <mc:Fallback xmlns="">
      <p:transition spd="slow" advTm="6229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369665"/>
            <a:ext cx="5229225" cy="50710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UCI Training Data</a:t>
            </a:r>
            <a:endParaRPr/>
          </a:p>
        </p:txBody>
      </p:sp>
      <p:sp>
        <p:nvSpPr>
          <p:cNvPr id="130" name="Google Shape;130;p16"/>
          <p:cNvSpPr/>
          <p:nvPr/>
        </p:nvSpPr>
        <p:spPr>
          <a:xfrm>
            <a:off x="581025" y="122679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 txBox="1"/>
          <p:nvPr/>
        </p:nvSpPr>
        <p:spPr>
          <a:xfrm>
            <a:off x="581025" y="1922710"/>
            <a:ext cx="5490686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The Foundation</a:t>
            </a:r>
            <a:endParaRPr/>
          </a:p>
        </p:txBody>
      </p:sp>
      <p:sp>
        <p:nvSpPr>
          <p:cNvPr id="132" name="Google Shape;132;p16"/>
          <p:cNvSpPr txBox="1"/>
          <p:nvPr/>
        </p:nvSpPr>
        <p:spPr>
          <a:xfrm>
            <a:off x="581025" y="2328267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trained our models on the renowned </a:t>
            </a: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UCI Phishing Websites Dataset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66775" y="3208139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Records: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11,055 distinct websites.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866775" y="3733800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Features: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30 attributes per record.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866775" y="4259460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Encoding: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Trinary values (-1: Phishing, 0: Suspicious, 1: Safe).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5120282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Balance: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Relatively balanced dataset, preventing major class bias.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381750" y="2032053"/>
            <a:ext cx="4829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888888"/>
                </a:solidFill>
                <a:latin typeface="Courier New"/>
                <a:ea typeface="Courier New"/>
                <a:cs typeface="Courier New"/>
                <a:sym typeface="Courier New"/>
              </a:rPr>
              <a:t># Sample Data Structure</a:t>
            </a:r>
            <a:endParaRPr dirty="0"/>
          </a:p>
        </p:txBody>
      </p:sp>
      <p:sp>
        <p:nvSpPr>
          <p:cNvPr id="138" name="Google Shape;138;p16"/>
          <p:cNvSpPr txBox="1"/>
          <p:nvPr/>
        </p:nvSpPr>
        <p:spPr>
          <a:xfrm>
            <a:off x="6581771" y="2608963"/>
            <a:ext cx="48291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id, </a:t>
            </a:r>
            <a:r>
              <a:rPr lang="en-US" sz="1650" b="0" i="0" u="none" strike="noStrike" cap="none" dirty="0" err="1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having_IP</a:t>
            </a:r>
            <a:r>
              <a:rPr lang="en-US" sz="1650" b="0" i="0" u="none" strike="noStrike" cap="none" dirty="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50" b="0" i="0" u="none" strike="noStrike" cap="none" dirty="0" err="1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URL_Length</a:t>
            </a:r>
            <a:r>
              <a:rPr lang="en-US" sz="1650" b="0" i="0" u="none" strike="noStrike" cap="none" dirty="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US" sz="1650" b="0" i="0" u="none" strike="noStrike" cap="none" dirty="0" err="1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SSL_State</a:t>
            </a:r>
            <a:r>
              <a:rPr lang="en-US" sz="1650" b="0" i="0" u="none" strike="noStrike" cap="none" dirty="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, Result</a:t>
            </a:r>
            <a:endParaRPr dirty="0"/>
          </a:p>
        </p:txBody>
      </p:sp>
      <p:sp>
        <p:nvSpPr>
          <p:cNvPr id="139" name="Google Shape;139;p16"/>
          <p:cNvSpPr txBox="1"/>
          <p:nvPr/>
        </p:nvSpPr>
        <p:spPr>
          <a:xfrm>
            <a:off x="6581771" y="3402934"/>
            <a:ext cx="4829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1, -1, 1, -1, -1</a:t>
            </a:r>
            <a:endParaRPr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6581771" y="3886435"/>
            <a:ext cx="4829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2, 1, 1, -1, -1</a:t>
            </a:r>
            <a:endParaRPr dirty="0"/>
          </a:p>
        </p:txBody>
      </p:sp>
      <p:sp>
        <p:nvSpPr>
          <p:cNvPr id="141" name="Google Shape;141;p16"/>
          <p:cNvSpPr txBox="1"/>
          <p:nvPr/>
        </p:nvSpPr>
        <p:spPr>
          <a:xfrm>
            <a:off x="6581772" y="4294482"/>
            <a:ext cx="4829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3, 1, 0, -1, -1</a:t>
            </a:r>
            <a:endParaRPr dirty="0"/>
          </a:p>
        </p:txBody>
      </p:sp>
      <p:sp>
        <p:nvSpPr>
          <p:cNvPr id="142" name="Google Shape;142;p16"/>
          <p:cNvSpPr txBox="1"/>
          <p:nvPr/>
        </p:nvSpPr>
        <p:spPr>
          <a:xfrm>
            <a:off x="6581772" y="4591165"/>
            <a:ext cx="48291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0E0E0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dirty="0"/>
          </a:p>
        </p:txBody>
      </p:sp>
      <p:sp>
        <p:nvSpPr>
          <p:cNvPr id="143" name="Google Shape;143;p16"/>
          <p:cNvSpPr txBox="1"/>
          <p:nvPr/>
        </p:nvSpPr>
        <p:spPr>
          <a:xfrm>
            <a:off x="6581772" y="5041793"/>
            <a:ext cx="4829175" cy="226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666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CAF50"/>
                </a:solidFill>
                <a:latin typeface="Courier New"/>
                <a:ea typeface="Courier New"/>
                <a:cs typeface="Courier New"/>
                <a:sym typeface="Courier New"/>
              </a:rPr>
              <a:t># Features cover address bar properties,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650" b="0" i="0" u="none" strike="noStrike" cap="none" dirty="0">
                <a:solidFill>
                  <a:srgbClr val="4CAF50"/>
                </a:solidFill>
                <a:latin typeface="Courier New"/>
                <a:ea typeface="Courier New"/>
                <a:cs typeface="Courier New"/>
                <a:sym typeface="Courier New"/>
              </a:rPr>
              <a:t> HTML tags, and domain age.</a:t>
            </a:r>
            <a:endParaRPr dirty="0"/>
          </a:p>
        </p:txBody>
      </p:sp>
      <p:sp>
        <p:nvSpPr>
          <p:cNvPr id="144" name="Google Shape;144;p16"/>
          <p:cNvSpPr txBox="1"/>
          <p:nvPr/>
        </p:nvSpPr>
        <p:spPr>
          <a:xfrm>
            <a:off x="581025" y="320813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581025" y="373380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581025" y="425946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581025" y="512028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6925"/>
    </mc:Choice>
    <mc:Fallback xmlns="">
      <p:transition spd="slow" advTm="5692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" name="Google Shape;152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65061" y="1544985"/>
            <a:ext cx="11029950" cy="4650135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p17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Model Performance Comparison</a:t>
            </a:r>
            <a:endParaRPr/>
          </a:p>
        </p:txBody>
      </p:sp>
      <p:sp>
        <p:nvSpPr>
          <p:cNvPr id="155" name="Google Shape;155;p17"/>
          <p:cNvSpPr/>
          <p:nvPr/>
        </p:nvSpPr>
        <p:spPr>
          <a:xfrm>
            <a:off x="581025" y="122679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581025" y="5038725"/>
            <a:ext cx="11029950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Random Forest was selected for its ability to handle non-linear feature interactions and resistance to overfitting.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237"/>
    </mc:Choice>
    <mc:Fallback xmlns="">
      <p:transition spd="slow" advTm="2523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9525"/>
            <a:ext cx="6086475" cy="7298977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771525" y="771525"/>
            <a:ext cx="4790598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The Inference Gap</a:t>
            </a: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771525" y="1417290"/>
            <a:ext cx="4562475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8"/>
          <p:cNvSpPr txBox="1"/>
          <p:nvPr/>
        </p:nvSpPr>
        <p:spPr>
          <a:xfrm>
            <a:off x="771525" y="2026890"/>
            <a:ext cx="4562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This is the critical engineering challenge of the project: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771525" y="3297287"/>
            <a:ext cx="4562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Model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expects 30 features (including SSL state, DNS records, Domain Age).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71525" y="4386708"/>
            <a:ext cx="456247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User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only provides a raw string: "http://evil-site.com"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771525" y="5416154"/>
            <a:ext cx="4562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How do we bridge the gap between a raw string and a complex feature vector in real-time?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0793"/>
    </mc:Choice>
    <mc:Fallback xmlns="">
      <p:transition spd="slow" advTm="40793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3418433"/>
            <a:ext cx="5229225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Real-Time Feature Extraction</a:t>
            </a:r>
            <a:endParaRPr/>
          </a:p>
        </p:txBody>
      </p:sp>
      <p:sp>
        <p:nvSpPr>
          <p:cNvPr id="176" name="Google Shape;176;p19"/>
          <p:cNvSpPr/>
          <p:nvPr/>
        </p:nvSpPr>
        <p:spPr>
          <a:xfrm>
            <a:off x="581025" y="122679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 txBox="1"/>
          <p:nvPr/>
        </p:nvSpPr>
        <p:spPr>
          <a:xfrm>
            <a:off x="581025" y="2230189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implemented a custom extraction engine in Python that parses the URL string using RegEx and heuristics.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866775" y="3110061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IP Address: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RegEx checks for IPv4/IPv6 patterns.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866775" y="3635722"/>
            <a:ext cx="4943475" cy="335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URL Length: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&gt;54 chars is flagged as phishing (-1).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866775" y="4161383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@ Symbol: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Presence indicates browser redirection exploit.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866775" y="5022205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Hyphens: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"Prefix_Suffix" feature detection for typosquatting.</a:t>
            </a:r>
            <a:endParaRPr/>
          </a:p>
        </p:txBody>
      </p:sp>
      <p:sp>
        <p:nvSpPr>
          <p:cNvPr id="182" name="Google Shape;182;p19"/>
          <p:cNvSpPr txBox="1"/>
          <p:nvPr/>
        </p:nvSpPr>
        <p:spPr>
          <a:xfrm>
            <a:off x="581025" y="3110061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83" name="Google Shape;183;p19"/>
          <p:cNvSpPr txBox="1"/>
          <p:nvPr/>
        </p:nvSpPr>
        <p:spPr>
          <a:xfrm>
            <a:off x="581025" y="363572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84" name="Google Shape;184;p19"/>
          <p:cNvSpPr txBox="1"/>
          <p:nvPr/>
        </p:nvSpPr>
        <p:spPr>
          <a:xfrm>
            <a:off x="581025" y="4161383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185" name="Google Shape;185;p19"/>
          <p:cNvSpPr txBox="1"/>
          <p:nvPr/>
        </p:nvSpPr>
        <p:spPr>
          <a:xfrm>
            <a:off x="581025" y="502220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3749"/>
    </mc:Choice>
    <mc:Fallback xmlns="">
      <p:transition spd="slow" advTm="33749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38796"/>
            <a:ext cx="5229225" cy="3826222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Zero-Imputation Strategy</a:t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581025" y="122679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0"/>
          <p:cNvSpPr txBox="1"/>
          <p:nvPr/>
        </p:nvSpPr>
        <p:spPr>
          <a:xfrm>
            <a:off x="581025" y="2534096"/>
            <a:ext cx="5090636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Hybrid Vector Creation</a:t>
            </a:r>
            <a:endParaRPr/>
          </a:p>
        </p:txBody>
      </p:sp>
      <p:sp>
        <p:nvSpPr>
          <p:cNvPr id="195" name="Google Shape;195;p20"/>
          <p:cNvSpPr txBox="1"/>
          <p:nvPr/>
        </p:nvSpPr>
        <p:spPr>
          <a:xfrm>
            <a:off x="581025" y="2939653"/>
            <a:ext cx="48482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Since we cannot query WHOIS databases in real-time without slowing down the user experience, we use a </a:t>
            </a: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Zero-Imputation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strategy.</a:t>
            </a:r>
            <a:endParaRPr/>
          </a:p>
        </p:txBody>
      </p:sp>
      <p:sp>
        <p:nvSpPr>
          <p:cNvPr id="196" name="Google Shape;196;p20"/>
          <p:cNvSpPr txBox="1"/>
          <p:nvPr/>
        </p:nvSpPr>
        <p:spPr>
          <a:xfrm>
            <a:off x="581025" y="4154685"/>
            <a:ext cx="484822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extract the 5 critical lexical features we </a:t>
            </a:r>
            <a:r>
              <a:rPr lang="en-US" sz="1650" b="0" i="1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can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see, and set the remaining 25 complex features (like SSL) to </a:t>
            </a: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0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6677025" y="2334071"/>
            <a:ext cx="4870608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Why this works with Random Forest?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6677025" y="2794992"/>
            <a:ext cx="4638675" cy="679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 our dataset, 0 often represents "Suspicious" or "Missing".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6677025" y="3684389"/>
            <a:ext cx="4638675" cy="16758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Random Forest is robust enough to handle these constant values. It relies heavily on the 5 lexical features we </a:t>
            </a:r>
            <a:r>
              <a:rPr lang="en-US" sz="1650" b="0" i="1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do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provide to make the decision, effectively treating the unknown features as neutral.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3842"/>
    </mc:Choice>
    <mc:Fallback xmlns="">
      <p:transition spd="slow" advTm="43842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46833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 txBox="1"/>
          <p:nvPr/>
        </p:nvSpPr>
        <p:spPr>
          <a:xfrm>
            <a:off x="581025" y="470296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Explainability Integration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81025" y="1116062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6381750" y="1516112"/>
            <a:ext cx="5490686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Beyond "Black Box" Predictions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81750" y="1921668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Security tools must educate the user. Our system doesn't just return a label.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667500" y="3134915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Feature Mapping: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The backend returns the specific features that triggered the detection.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6667500" y="3995737"/>
            <a:ext cx="49434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User Feedback: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If a URL is blocked, the UI says </a:t>
            </a:r>
            <a:r>
              <a:rPr lang="en-US" sz="1650" b="0" i="1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"Warning: IP Address Used"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lang="en-US" sz="1650" b="0" i="1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"Warning: @ Symbol Detected"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6667500" y="5191720"/>
            <a:ext cx="49434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SHAP Values: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The architecture supports SHAP (Shapley Additive Explanations) to quantify exactly how much each feature contributed to the risk score.</a:t>
            </a:r>
            <a:endParaRPr/>
          </a:p>
        </p:txBody>
      </p:sp>
      <p:sp>
        <p:nvSpPr>
          <p:cNvPr id="214" name="Google Shape;214;p21"/>
          <p:cNvSpPr txBox="1"/>
          <p:nvPr/>
        </p:nvSpPr>
        <p:spPr>
          <a:xfrm>
            <a:off x="6381750" y="3134915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6381750" y="399573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81750" y="519172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E98BB7-D84B-5C42-9AD7-BD78E59DA4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36" y="2474474"/>
            <a:ext cx="6101242" cy="3050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7462"/>
    </mc:Choice>
    <mc:Fallback xmlns="">
      <p:transition spd="slow" advTm="37462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22462"/>
            <a:ext cx="3486150" cy="3258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22462"/>
            <a:ext cx="3486150" cy="3258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22462"/>
            <a:ext cx="3486150" cy="32588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7412" y="26463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64631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1212" y="2646312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Backend Implementation</a:t>
            </a:r>
            <a:endParaRPr/>
          </a:p>
        </p:txBody>
      </p:sp>
      <p:sp>
        <p:nvSpPr>
          <p:cNvPr id="229" name="Google Shape;229;p22"/>
          <p:cNvSpPr/>
          <p:nvPr/>
        </p:nvSpPr>
        <p:spPr>
          <a:xfrm>
            <a:off x="581025" y="122679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2"/>
          <p:cNvSpPr txBox="1"/>
          <p:nvPr/>
        </p:nvSpPr>
        <p:spPr>
          <a:xfrm>
            <a:off x="803910" y="3265437"/>
            <a:ext cx="304038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Server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876300" y="3516807"/>
            <a:ext cx="2895600" cy="13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Custom ThreadingHTTPServer. Handles multiple concurrent requests without blocking the main thread.</a:t>
            </a:r>
            <a:endParaRPr dirty="0"/>
          </a:p>
        </p:txBody>
      </p:sp>
      <p:sp>
        <p:nvSpPr>
          <p:cNvPr id="232" name="Google Shape;232;p22"/>
          <p:cNvSpPr txBox="1"/>
          <p:nvPr/>
        </p:nvSpPr>
        <p:spPr>
          <a:xfrm>
            <a:off x="4575810" y="3265437"/>
            <a:ext cx="304038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Caching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4648200" y="3726358"/>
            <a:ext cx="2895600" cy="1350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Uses joblib/pickle to serialize the trained model. Eliminates re-training time on server restart.</a:t>
            </a:r>
            <a:endParaRPr/>
          </a:p>
        </p:txBody>
      </p:sp>
      <p:sp>
        <p:nvSpPr>
          <p:cNvPr id="234" name="Google Shape;234;p22"/>
          <p:cNvSpPr txBox="1"/>
          <p:nvPr/>
        </p:nvSpPr>
        <p:spPr>
          <a:xfrm>
            <a:off x="8347710" y="3265437"/>
            <a:ext cx="3040380" cy="251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Performance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8420100" y="3726358"/>
            <a:ext cx="2895600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Inference time is sub-50ms due to local heuristic extraction avoiding external API calls.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1200"/>
    </mc:Choice>
    <mc:Fallback xmlns="">
      <p:transition spd="slow" advTm="412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Limitations &amp; Future Roadmap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81025" y="122679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3"/>
          <p:cNvSpPr txBox="1"/>
          <p:nvPr/>
        </p:nvSpPr>
        <p:spPr>
          <a:xfrm>
            <a:off x="581025" y="2916882"/>
            <a:ext cx="5490686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Current Limitations</a:t>
            </a:r>
            <a:endParaRPr/>
          </a:p>
        </p:txBody>
      </p:sp>
      <p:sp>
        <p:nvSpPr>
          <p:cNvPr id="244" name="Google Shape;244;p23"/>
          <p:cNvSpPr txBox="1"/>
          <p:nvPr/>
        </p:nvSpPr>
        <p:spPr>
          <a:xfrm>
            <a:off x="6381750" y="2151310"/>
            <a:ext cx="5490686" cy="19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Future Roadmap</a:t>
            </a:r>
            <a:endParaRPr/>
          </a:p>
        </p:txBody>
      </p:sp>
      <p:sp>
        <p:nvSpPr>
          <p:cNvPr id="245" name="Google Shape;245;p23"/>
          <p:cNvSpPr txBox="1"/>
          <p:nvPr/>
        </p:nvSpPr>
        <p:spPr>
          <a:xfrm>
            <a:off x="866775" y="3265289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Feature Gap: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Relying on 0-imputation for SSL features reduces accuracy for sophisticated attacks.</a:t>
            </a:r>
            <a:endParaRPr/>
          </a:p>
        </p:txBody>
      </p:sp>
      <p:sp>
        <p:nvSpPr>
          <p:cNvPr id="246" name="Google Shape;246;p23"/>
          <p:cNvSpPr txBox="1"/>
          <p:nvPr/>
        </p:nvSpPr>
        <p:spPr>
          <a:xfrm>
            <a:off x="866775" y="4126110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Lexical Only: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Cannot detect phishing on compromised legitimate domains (e.g., hacked wordpress sites).</a:t>
            </a:r>
            <a:endParaRPr/>
          </a:p>
        </p:txBody>
      </p:sp>
      <p:sp>
        <p:nvSpPr>
          <p:cNvPr id="247" name="Google Shape;247;p23"/>
          <p:cNvSpPr txBox="1"/>
          <p:nvPr/>
        </p:nvSpPr>
        <p:spPr>
          <a:xfrm>
            <a:off x="6667500" y="2499717"/>
            <a:ext cx="49434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Deep Learning: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Implement CNN/LSTM models to read URLs as character sequences, removing the need for manual feature extraction.</a:t>
            </a:r>
            <a:endParaRPr/>
          </a:p>
        </p:txBody>
      </p:sp>
      <p:sp>
        <p:nvSpPr>
          <p:cNvPr id="248" name="Google Shape;248;p23"/>
          <p:cNvSpPr txBox="1"/>
          <p:nvPr/>
        </p:nvSpPr>
        <p:spPr>
          <a:xfrm>
            <a:off x="6667500" y="3695700"/>
            <a:ext cx="4943475" cy="100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Live API Integration: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Async calls to Google Safe Browsing or SSL Labs for real-time certificate validation.</a:t>
            </a:r>
            <a:endParaRPr/>
          </a:p>
        </p:txBody>
      </p:sp>
      <p:sp>
        <p:nvSpPr>
          <p:cNvPr id="249" name="Google Shape;249;p23"/>
          <p:cNvSpPr txBox="1"/>
          <p:nvPr/>
        </p:nvSpPr>
        <p:spPr>
          <a:xfrm>
            <a:off x="6667500" y="4891682"/>
            <a:ext cx="494347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Browser Extension: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Porting the logic to a Chrome Extension for passive protection.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581025" y="3265289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581025" y="412611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381750" y="2499717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381750" y="3695700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6381750" y="4891682"/>
            <a:ext cx="123825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&gt;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2851"/>
    </mc:Choice>
    <mc:Fallback xmlns="">
      <p:transition spd="slow" advTm="5285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4"/>
          <p:cNvSpPr txBox="1"/>
          <p:nvPr/>
        </p:nvSpPr>
        <p:spPr>
          <a:xfrm>
            <a:off x="581025" y="3337470"/>
            <a:ext cx="522922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98.5%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581025" y="4289970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888888"/>
                </a:solidFill>
                <a:latin typeface="Urbanist"/>
                <a:ea typeface="Urbanist"/>
                <a:cs typeface="Urbanist"/>
                <a:sym typeface="Urbanist"/>
              </a:rPr>
              <a:t>TRAINING ACCURACY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581025" y="581025"/>
            <a:ext cx="11581447" cy="52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63" name="Google Shape;263;p24"/>
          <p:cNvSpPr/>
          <p:nvPr/>
        </p:nvSpPr>
        <p:spPr>
          <a:xfrm>
            <a:off x="581025" y="1226790"/>
            <a:ext cx="11029950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6381750" y="2401639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We successfully engineered a full-stack Phishing Detection System.</a:t>
            </a:r>
            <a:endParaRPr/>
          </a:p>
        </p:txBody>
      </p:sp>
      <p:sp>
        <p:nvSpPr>
          <p:cNvPr id="265" name="Google Shape;265;p24"/>
          <p:cNvSpPr txBox="1"/>
          <p:nvPr/>
        </p:nvSpPr>
        <p:spPr>
          <a:xfrm>
            <a:off x="6381750" y="3281511"/>
            <a:ext cx="5229225" cy="13406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By combining the robustness of </a:t>
            </a: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Random Forest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 with the speed of </a:t>
            </a:r>
            <a:r>
              <a:rPr lang="en-US" sz="1650" b="1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Heuristic Analysis</a:t>
            </a:r>
            <a:r>
              <a:rPr lang="en-US" sz="1650" b="0" i="0" u="none" strike="noStrike" cap="none">
                <a:solidFill>
                  <a:srgbClr val="E0E0E0"/>
                </a:solidFill>
                <a:latin typeface="Urbanist"/>
                <a:ea typeface="Urbanist"/>
                <a:cs typeface="Urbanist"/>
                <a:sym typeface="Urbanist"/>
              </a:rPr>
              <a:t>, we created a tool that is both accurate on benchmarks and usable in real-time scenarios.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6381750" y="4831705"/>
            <a:ext cx="5229225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Bridging the gap between static data science and dynamic web security.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5907"/>
    </mc:Choice>
    <mc:Fallback xmlns="">
      <p:transition spd="slow" advTm="35907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879DDD3-2BB1-E1D5-7F93-CF038D16397D}"/>
              </a:ext>
            </a:extLst>
          </p:cNvPr>
          <p:cNvSpPr txBox="1"/>
          <p:nvPr/>
        </p:nvSpPr>
        <p:spPr>
          <a:xfrm>
            <a:off x="3805084" y="2860030"/>
            <a:ext cx="6096000" cy="1137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00" b="1" i="0" u="none" strike="noStrike" cap="none" dirty="0">
                <a:solidFill>
                  <a:srgbClr val="4CAF50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 lang="en-US" sz="6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1172</Words>
  <Application>Microsoft Office PowerPoint</Application>
  <PresentationFormat>Widescreen</PresentationFormat>
  <Paragraphs>122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Calibri</vt:lpstr>
      <vt:lpstr>Urbanist</vt:lpstr>
      <vt:lpstr>Arial</vt:lpstr>
      <vt:lpstr>Cascadia Mono SemiBold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Harshith</dc:creator>
  <cp:lastModifiedBy>Harshith Gottipati</cp:lastModifiedBy>
  <cp:revision>8</cp:revision>
  <dcterms:modified xsi:type="dcterms:W3CDTF">2025-12-03T10:13:53Z</dcterms:modified>
</cp:coreProperties>
</file>